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ff5901f7a941a9" /><Relationship Type="http://schemas.openxmlformats.org/officeDocument/2006/relationships/extended-properties" Target="/docProps/app.xml" Id="R8782c82406fb4702" /><Relationship Type="http://schemas.openxmlformats.org/officeDocument/2006/relationships/officeDocument" Target="/ppt/presentation.xml" Id="R0437274921dc42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dfafa162c845de"/>
  </p:sldMasterIdLst>
  <p:notesMasterIdLst>
    <p:notesMasterId xmlns:r="http://schemas.openxmlformats.org/officeDocument/2006/relationships" r:id="Rae68d0b865a44766"/>
  </p:notesMasterIdLst>
  <p:sldIdLst>
    <p:sldId xmlns:r="http://schemas.openxmlformats.org/officeDocument/2006/relationships" id="256" r:id="Rf325d65a174e426a"/>
    <p:sldId xmlns:r="http://schemas.openxmlformats.org/officeDocument/2006/relationships" id="257" r:id="R9cd4c24ef78649f9"/>
    <p:sldId xmlns:r="http://schemas.openxmlformats.org/officeDocument/2006/relationships" id="258" r:id="R25f4708cc5e4466d"/>
    <p:sldId xmlns:r="http://schemas.openxmlformats.org/officeDocument/2006/relationships" id="259" r:id="R86b7318a871f42e9"/>
    <p:sldId xmlns:r="http://schemas.openxmlformats.org/officeDocument/2006/relationships" id="260" r:id="R4d577b3ebd0a41b8"/>
    <p:sldId xmlns:r="http://schemas.openxmlformats.org/officeDocument/2006/relationships" id="261" r:id="R9d00b03f3c054cec"/>
    <p:sldId xmlns:r="http://schemas.openxmlformats.org/officeDocument/2006/relationships" id="262" r:id="Ra73c60a81f964053"/>
    <p:sldId xmlns:r="http://schemas.openxmlformats.org/officeDocument/2006/relationships" id="263" r:id="R6b43d08de80d4b23"/>
    <p:sldId xmlns:r="http://schemas.openxmlformats.org/officeDocument/2006/relationships" id="264" r:id="R6fd5726c48b64871"/>
    <p:sldId xmlns:r="http://schemas.openxmlformats.org/officeDocument/2006/relationships" id="265" r:id="R009596ce0ba94e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fafa162c845de" /><Relationship Type="http://schemas.openxmlformats.org/officeDocument/2006/relationships/theme" Target="/ppt/theme/theme1.xml" Id="Rd3f30f606d934ce7" /><Relationship Type="http://schemas.openxmlformats.org/officeDocument/2006/relationships/notesMaster" Target="/ppt/notesMasters/notesMaster1.xml" Id="Rae68d0b865a44766" /><Relationship Type="http://schemas.openxmlformats.org/officeDocument/2006/relationships/presProps" Target="/ppt/presProps.xml" Id="Rfd4f7319f6cd43fe" /><Relationship Type="http://schemas.openxmlformats.org/officeDocument/2006/relationships/viewProps" Target="/ppt/viewProps.xml" Id="Rce1582b7b55444c3" /><Relationship Type="http://schemas.openxmlformats.org/officeDocument/2006/relationships/tableStyles" Target="/ppt/tableStyles.xml" Id="R319eff9dbe5c4e32" /><Relationship Type="http://schemas.openxmlformats.org/officeDocument/2006/relationships/slide" Target="/ppt/slides/slide1.xml" Id="Rf325d65a174e426a" /><Relationship Type="http://schemas.openxmlformats.org/officeDocument/2006/relationships/slide" Target="/ppt/slides/slide2.xml" Id="R9cd4c24ef78649f9" /><Relationship Type="http://schemas.openxmlformats.org/officeDocument/2006/relationships/slide" Target="/ppt/slides/slide3.xml" Id="R25f4708cc5e4466d" /><Relationship Type="http://schemas.openxmlformats.org/officeDocument/2006/relationships/slide" Target="/ppt/slides/slide4.xml" Id="R86b7318a871f42e9" /><Relationship Type="http://schemas.openxmlformats.org/officeDocument/2006/relationships/slide" Target="/ppt/slides/slide5.xml" Id="R4d577b3ebd0a41b8" /><Relationship Type="http://schemas.openxmlformats.org/officeDocument/2006/relationships/slide" Target="/ppt/slides/slide6.xml" Id="R9d00b03f3c054cec" /><Relationship Type="http://schemas.openxmlformats.org/officeDocument/2006/relationships/slide" Target="/ppt/slides/slide7.xml" Id="Ra73c60a81f964053" /><Relationship Type="http://schemas.openxmlformats.org/officeDocument/2006/relationships/slide" Target="/ppt/slides/slide8.xml" Id="R6b43d08de80d4b23" /><Relationship Type="http://schemas.openxmlformats.org/officeDocument/2006/relationships/slide" Target="/ppt/slides/slide9.xml" Id="R6fd5726c48b64871" /><Relationship Type="http://schemas.openxmlformats.org/officeDocument/2006/relationships/slide" Target="/ppt/slides/slide10.xml" Id="R009596ce0ba94e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9fbc8afcaec4a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b235f66dd241e7" /><Relationship Type="http://schemas.openxmlformats.org/officeDocument/2006/relationships/notesMaster" Target="/ppt/notesMasters/notesMaster1.xml" Id="Rdb1c46020e8d49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298d8472124c66" /><Relationship Type="http://schemas.openxmlformats.org/officeDocument/2006/relationships/notesMaster" Target="/ppt/notesMasters/notesMaster1.xml" Id="R754dfc12263542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0e16d6280843be" /><Relationship Type="http://schemas.openxmlformats.org/officeDocument/2006/relationships/notesMaster" Target="/ppt/notesMasters/notesMaster1.xml" Id="R64eeffe5301040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070682b44d44af" /><Relationship Type="http://schemas.openxmlformats.org/officeDocument/2006/relationships/notesMaster" Target="/ppt/notesMasters/notesMaster1.xml" Id="R960d582a64bf43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6ba9d883784b60" /><Relationship Type="http://schemas.openxmlformats.org/officeDocument/2006/relationships/notesMaster" Target="/ppt/notesMasters/notesMaster1.xml" Id="R9e33e6e173774f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59d5ff61424dac" /><Relationship Type="http://schemas.openxmlformats.org/officeDocument/2006/relationships/notesMaster" Target="/ppt/notesMasters/notesMaster1.xml" Id="Rb26b0896b39b4b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45c6381a8d4a77" /><Relationship Type="http://schemas.openxmlformats.org/officeDocument/2006/relationships/notesMaster" Target="/ppt/notesMasters/notesMaster1.xml" Id="R07417f29a7454e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9cbcfb86764688" /><Relationship Type="http://schemas.openxmlformats.org/officeDocument/2006/relationships/notesMaster" Target="/ppt/notesMasters/notesMaster1.xml" Id="Rbbdab9314cca41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06acc4ee704f7d" /><Relationship Type="http://schemas.openxmlformats.org/officeDocument/2006/relationships/notesMaster" Target="/ppt/notesMasters/notesMaster1.xml" Id="R624be9f707f041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40df95de4b48ac" /><Relationship Type="http://schemas.openxmlformats.org/officeDocument/2006/relationships/notesMaster" Target="/ppt/notesMasters/notesMaster1.xml" Id="R4a3dae461a784f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ba57a87d444d3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565a191091d4ff9" /><Relationship Type="http://schemas.openxmlformats.org/officeDocument/2006/relationships/slideLayout" Target="/ppt/slideLayouts/slideLayout2.xml" Id="R1837bf6887b548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37bf6887b548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ee2b0eb6f841c7" /><Relationship Type="http://schemas.openxmlformats.org/officeDocument/2006/relationships/notesSlide" Target="/ppt/notesSlides/notesSlide1.xml" Id="Rd1f61ab6e16c48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7504e406b643cd" /><Relationship Type="http://schemas.openxmlformats.org/officeDocument/2006/relationships/notesSlide" Target="/ppt/notesSlides/notesSlide2.xml" Id="R1a334a86b21c48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77d9636fee4630" /><Relationship Type="http://schemas.openxmlformats.org/officeDocument/2006/relationships/notesSlide" Target="/ppt/notesSlides/notesSlide3.xml" Id="Ra4a08607e1b84f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b5208d75594ccb" /><Relationship Type="http://schemas.openxmlformats.org/officeDocument/2006/relationships/notesSlide" Target="/ppt/notesSlides/notesSlide4.xml" Id="Rfa03c7eb526547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eb29a2830e4943" /><Relationship Type="http://schemas.openxmlformats.org/officeDocument/2006/relationships/notesSlide" Target="/ppt/notesSlides/notesSlide5.xml" Id="Ra0dc73ad463c40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5d48fbabef4c52" /><Relationship Type="http://schemas.openxmlformats.org/officeDocument/2006/relationships/notesSlide" Target="/ppt/notesSlides/notesSlide6.xml" Id="R4fd4ac649b304b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36e5b82a3945d1" /><Relationship Type="http://schemas.openxmlformats.org/officeDocument/2006/relationships/notesSlide" Target="/ppt/notesSlides/notesSlide7.xml" Id="R82c0a210c29147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39adee089342f0" /><Relationship Type="http://schemas.openxmlformats.org/officeDocument/2006/relationships/notesSlide" Target="/ppt/notesSlides/notesSlide8.xml" Id="R4385180b39b24c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baf0f2546d4767" /><Relationship Type="http://schemas.openxmlformats.org/officeDocument/2006/relationships/notesSlide" Target="/ppt/notesSlides/notesSlide9.xml" Id="Rec5ebd9ba4504f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4d1855cd6d4d1e" /><Relationship Type="http://schemas.openxmlformats.org/officeDocument/2006/relationships/notesSlide" Target="/ppt/notesSlides/notesSlide10.xml" Id="R600a6ba1fcd94a8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C3B984-FC0C-4680-A5F9-18FC8BD9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0">
            <a:solidFill>
              <a:srgbClr val="F5F0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765AD-12DF-42B4-9E0F-40613890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EFE8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0720F-4ED6-4A1C-9A87-42CA26A3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A567E-9395-41C6-838A-131B0B0D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A"/>
          </a:solidFill>
          <a:ln xmlns:a="http://schemas.openxmlformats.org/drawingml/2006/main" w="0">
            <a:solidFill>
              <a:srgbClr val="1732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3D106-C195-42DB-9620-14E99DE6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8E3"/>
          </a:solidFill>
          <a:ln xmlns:a="http://schemas.openxmlformats.org/drawingml/2006/main" w="0">
            <a:solidFill>
              <a:srgbClr val="CBE8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323A"/>
                </a:solidFill>
                <a:latin typeface="Aptos"/>
                <a:ea typeface="Aptos"/>
                <a:cs typeface="Aptos"/>
              </a:rPr>
              <a:t>Soutenance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606D1-4E73-4BFC-A956-690CAFC0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6477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Transformer un modele d'attrition en service exploitable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A018A-C67A-433E-A30B-6B0BCF67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6153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4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4E7"/>
                </a:solidFill>
                <a:latin typeface="Aptos"/>
                <a:ea typeface="Aptos"/>
                <a:cs typeface="Aptos"/>
              </a:rPr>
              <a:t>Projet 5 OpenClassrooms. Je presente une API FastAPI documentee, securisee, testee, tracee et deployee publiquement sur Hugging Face Spaces.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B47A3-173B-4BF1-8350-8CD60C8D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CC7B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CC7BE"/>
                </a:solidFill>
                <a:latin typeface="Aptos"/>
                <a:ea typeface="Aptos"/>
                <a:cs typeface="Aptos"/>
              </a:rPr>
              <a:t>Fil directeur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166F2-538A-4743-836E-2210D66B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657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Je montre comment un modele ML devient un service d'ingenierie : exposition API, controle d'acces, validation qualite, tracabilite PostgreSQL et demonstration publique.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77DDD-ECFD-49D1-844A-8495157C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9525">
            <a:solidFill>
              <a:srgbClr val="E4F3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DE552-CE24-4ABB-B9EB-4CB50E37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1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5B5D4-1C03-4B46-A94C-2CE8A70A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FastAPI + Swagger / OpenAPI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3A3B5-5519-413B-9005-23970B4E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816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FF1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3DF53-ABBA-4154-8CF9-D0717A01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35305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1 BDD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E9375-A8EB-4DFB-9A8D-DA73055B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7912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PostgreSQL pour la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DB4CC-DE84-4CD6-948C-CBFEE39D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816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FF"/>
          </a:solidFill>
          <a:ln xmlns:a="http://schemas.openxmlformats.org/drawingml/2006/main" w="9525">
            <a:solidFill>
              <a:srgbClr val="F1E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5D0045-64BB-425E-A472-6F870E3D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35305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1 CI/CD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A26440-9094-4B3E-BE7A-D25CED74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7912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Tests, lint et deploiement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D1266-43A2-4093-AB49-F5331738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819150"/>
            <a:ext cx="3105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ECBDF-BA80-405C-AC3F-70E163B7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9525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References de demonstration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25A4E6-FABE-4015-B343-5055335C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238250"/>
            <a:ext cx="2800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Space public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https://hgbe-gh-openclassrooms-projet5.hf.space/docs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Cle de demo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X-API-Key: change-me-for-local-dev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B389FE-A341-4260-ACD9-75264DE2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3105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A6900-2664-4E1B-8FF2-DCA7106E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004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Etat verifie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1D5492-C702-4CDB-965C-51659C79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86150"/>
            <a:ext cx="2800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/health 200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/docs 200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/predict sans cle 401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/predict avec cle 200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2090CF-1DCA-4955-9EF8-6C24E2E8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9650"/>
            <a:ext cx="3105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8BA2D5-E7D6-4288-B328-6BB58F21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530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Promesse orale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BA775D-48FF-4F3A-BCC6-C307CB9C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38750"/>
            <a:ext cx="28003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Je ne presente pas un notebook ML. Je presente un service exploitable, demonstrable et maintenable.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DE68A4-D26E-4877-BBC1-7A3BD09C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Projet 5 OpenClassrooms - Attrition 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188552-B515-4526-A150-459B8F32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033791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B17436-9FD4-4E95-B31D-8AAC81B3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0">
            <a:solidFill>
              <a:srgbClr val="F5F0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90FB1-4DCF-43B9-8704-B4D8B533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EFE8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2522F-C72D-4B66-8F96-A0889BD2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B397D-807C-4290-9749-545D549B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0">
            <a:solidFill>
              <a:srgbClr val="E4F3F1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Depot Git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00209-2185-477F-ABF8-15662E50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E2430"/>
                </a:solidFill>
                <a:latin typeface="Aptos Display"/>
                <a:ea typeface="Aptos Display"/>
                <a:cs typeface="Aptos Display"/>
              </a:rPr>
              <a:t>Le depot regroupe l'ensemble des livrables attendus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AAAD9-A0E4-43EB-89C9-35B99EEB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Je ne livre pas seulement du code source : je livre une structure exploitable pour installer, tester, documenter, demontrer et deployer.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4341A-9F00-4EB7-A88C-751CFFF6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31051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A"/>
          </a:solidFill>
          <a:ln xmlns:a="http://schemas.openxmlformats.org/drawingml/2006/main" w="0">
            <a:solidFill>
              <a:srgbClr val="1732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95FE3-9FBE-4783-A547-95B8D9C1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que le depot prouve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DD2B2-39C8-428E-9194-F39D4A4F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2724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6E8"/>
                </a:solidFill>
                <a:latin typeface="Aptos"/>
                <a:ea typeface="Aptos"/>
                <a:cs typeface="Aptos"/>
              </a:rPr>
              <a:t>Le repository porte l'ensemble du projet : developpement, validation, documentation, persistance et deploiement.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9E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6E8"/>
                </a:solidFill>
                <a:latin typeface="Aptos"/>
                <a:ea typeface="Aptos"/>
                <a:cs typeface="Aptos"/>
              </a:rPr>
              <a:t>Ce point est important pour montrer que je livre un systeme, pas un simple prototype.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C2F84-9F90-45ED-B961-C5EECB88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3771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9525">
            <a:solidFill>
              <a:srgbClr val="E4F3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25A8E-6859-4E9A-9C0D-963BE773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95550"/>
            <a:ext cx="3467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Livrables couverts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DAEC5-37E6-449A-84AD-BAEEB33D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95600"/>
            <a:ext cx="331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API FastAPI avec Swagger / OpenAPI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E0B1C-9DAF-46D0-8DFB-D7168895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19450"/>
            <a:ext cx="331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tests Pytest et couverture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F6270-9C5B-4481-9FE7-4BD6922B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43300"/>
            <a:ext cx="331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base PostgreSQL et exemples de donnees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64291-7DCD-4028-835E-0B99F73E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67150"/>
            <a:ext cx="331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pipeline GitHub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132B3-EEB6-4520-836E-7AB6355D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91000"/>
            <a:ext cx="331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supports HTML de suivi et soutenance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899BC8-85C3-42B7-B12C-05F550D1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3733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3F8A24-8979-4595-9ECC-4B876D49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Arborescence cle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58A84-A56A-4022-ACAA-A23AD65D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429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.github/workflows    pipeline CI/CD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openclassrooms_projet5 API + modele + DB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scripts               creation DB, seed, runtime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tests                 unitaires et integration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sql / alembic         schema et migrations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docs / reports        documentation et soutenance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8DD10-DB55-42F1-A31D-BC560E16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91100"/>
            <a:ext cx="7772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5164BB-2A8E-44AC-BD97-CB2C2D77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24450"/>
            <a:ext cx="746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Message a faire passer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8DBD9-8A9E-49BB-B5B4-03A4E553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410200"/>
            <a:ext cx="746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Cette organisation rend le projet lisible pour un responsable technique : chaque dossier correspond a un besoin concret du brief.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FBD42E-891A-464E-B11E-15D90B37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72150"/>
            <a:ext cx="1116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AC8954-C2C5-48F3-BB88-1E9FD39F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Phrase a dire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2870C5-FA1A-4A18-B9EC-6440A1F9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858500" cy="-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Le depot n'est pas un simple repository de developpement : il constitue un livrable complet, demonstrable et versionne.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66D6EA-6B11-4761-A3DF-4562354C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Projet 5 OpenClassrooms - Attrition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A99FC5-DBB1-46F0-B20E-F9D63B5A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685799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4C057F-26B3-4E11-B746-4E0C1CBE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0">
            <a:solidFill>
              <a:srgbClr val="F5F0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A2525-32E2-4CDF-9A6A-05DF2D30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EFE8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B10CC-7197-4041-A277-59AEF7DE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EB74B-3832-457F-B746-9FA9FD7A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0">
            <a:solidFill>
              <a:srgbClr val="E4F3F1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CI/CD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276F3-9FF3-47CB-9507-2BB881EE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E2430"/>
                </a:solidFill>
                <a:latin typeface="Aptos Display"/>
                <a:ea typeface="Aptos Display"/>
                <a:cs typeface="Aptos Display"/>
              </a:rPr>
              <a:t>Le pipeline automatise la qualite puis prepare le deploiement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1F550-188D-4DAC-86F1-5917D0CB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Je separe bien la validation technique et la synchronisation du Space Hugging 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DD199-3D9D-4C76-8ED0-2956FF14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9525">
            <a:solidFill>
              <a:srgbClr val="E4F3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80CB1-10C2-44E2-8E61-6930C2D1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2 jobs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F7D58-A745-4AFE-92DF-5C013988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qualite puis deploiement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B0FD7-98B4-45DC-A73F-37FB9DB9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6220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FF1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7CC2F-2D42-4CAE-8721-F7883CB0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955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1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C2DC0-AE69-4018-BD79-1F4A4B66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8130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needs: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59426-59D3-451C-90EE-89827161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FF"/>
          </a:solidFill>
          <a:ln xmlns:a="http://schemas.openxmlformats.org/drawingml/2006/main" w="9525">
            <a:solidFill>
              <a:srgbClr val="F1E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47DC9-88F8-4545-8B77-F708B49B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955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1 cible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6AD57-F522-4A8B-81B4-C2E769F5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Hugging Face Spaces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6057A-A0F1-4669-A0C2-50600CDA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62200"/>
            <a:ext cx="26860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A"/>
          </a:solidFill>
          <a:ln xmlns:a="http://schemas.openxmlformats.org/drawingml/2006/main" w="0">
            <a:solidFill>
              <a:srgbClr val="1732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07C5D-D1C8-434D-B026-E0675586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33650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Logique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95979B-3173-4F7D-A2EE-B7276268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90850"/>
            <a:ext cx="23050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6E8"/>
                </a:solidFill>
                <a:latin typeface="Aptos"/>
                <a:ea typeface="Aptos"/>
                <a:cs typeface="Aptos"/>
              </a:rPr>
              <a:t>Le pipeline controle d'abord la qualite du code puis seulement apres la publication du livrable public.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DEB06-BC2B-4900-A8C8-68E8E343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40005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9525">
            <a:solidFill>
              <a:srgbClr val="E4F3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77D0C0-25CB-48B3-9320-3C380EE7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Job qualite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CE87A-61A6-4824-93BC-663464E7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354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checkout du depot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7BAA9-5261-4AF0-9BD9-BF040833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354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installation Python 3.12 et uv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FF115-13DF-4D72-9B87-E2EC3D6E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354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demarrage d'un service PostgreSQL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228B08-F2E6-44AE-B81E-DE116C7B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354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restauration du modele chiffre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4CFA11-AAB6-402F-95B8-D5B7E3C6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354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migrations, tests, lint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815B0E-465D-49E9-8C7A-C5BCE478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62350"/>
            <a:ext cx="4019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FF1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33476-3F43-4D85-B948-7AFE9A55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957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Job deploiement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FB4B22-C9AA-4E55-A22E-135BF33E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76700"/>
            <a:ext cx="3562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declenchement sur tag v*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456E4C-6BE2-4727-B6A9-8425594A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62450"/>
            <a:ext cx="3562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export propre du depot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765A30-7E3B-4BB5-8CF5-5C3B1AB2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48200"/>
            <a:ext cx="3562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upload vers Hugging Face Spaces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22C8B3-93FA-4E47-BD1C-082E8CDC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33950"/>
            <a:ext cx="3562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variables : HF_TOKEN et HF_SPACE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AAE30A-D357-4854-9398-804CFB4E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116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6D5786-2365-431F-B642-1E62C898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38850"/>
            <a:ext cx="1085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Preuve a commenter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87C966-BA0B-4A4F-8844-7A183DCB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858500" cy="-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Le fichier .github/workflows/ci.yml montre que la qualite du projet ne depend pas d'une verification manuelle.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21760B-4996-47DE-8EDA-A511D9DC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Projet 5 OpenClassrooms - Attrition API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9051D6-129C-41BC-80E7-04D40878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3381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13486D-E9C3-4910-B015-4A64C2BF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0">
            <a:solidFill>
              <a:srgbClr val="F5F0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79D93-EB10-482E-A411-48607A82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EFE8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F0E85-2BD2-43F4-8B3A-4656CAE8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87CDB-F1BD-422E-8378-A8541380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0">
            <a:solidFill>
              <a:srgbClr val="E4F3F1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04EDE-2215-4FD2-A4CB-2955A59B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E2430"/>
                </a:solidFill>
                <a:latin typeface="Aptos Display"/>
                <a:ea typeface="Aptos Display"/>
                <a:cs typeface="Aptos Display"/>
              </a:rPr>
              <a:t>L'architecture separe validation, inference et persistance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10FED-C43F-42BC-B481-33052F0D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Le flux applicatif reste simple a expliquer et a maintenir.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59EDB-8E51-4294-8B26-633D1471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8D712-AECA-4482-89C4-404D94B8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0">
            <a:solidFill>
              <a:srgbClr val="E4F3F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42C5A-6A6D-4615-8D9B-C140D1BF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71725"/>
            <a:ext cx="651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Client -&gt; POST /predict ou GET /health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F3552-4541-40E1-9136-F589106A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AA08F-C9B3-4808-93C7-BBC6055A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0">
            <a:solidFill>
              <a:srgbClr val="E4F3F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EDEDD-FCED-4AB1-9121-43A5EF75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651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Validation Pydantic du payload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363BC-C923-443A-8628-D90D5C1E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A99D4-8417-448F-AD89-2DC690F9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0">
            <a:solidFill>
              <a:srgbClr val="E4F3F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59AD8-CC58-4A07-B062-DCD51005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29025"/>
            <a:ext cx="651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Chargement du modele et preprocessing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45F77-6C7A-4DDC-A3B4-DC898EF6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338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F0713-D5A7-4F2D-BF82-F437704E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0">
            <a:solidFill>
              <a:srgbClr val="E4F3F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58C3EC-42B6-4153-8D8E-365154D2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57675"/>
            <a:ext cx="651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Calcul de la probabilite, de la decision et du seuil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179F57-3D4A-40F3-A0A2-19A03C3F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C1990B-3089-4C00-B247-4A8110A8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0">
            <a:solidFill>
              <a:srgbClr val="E4F3F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C1EC8-E68C-4AAE-A555-CEB7F723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86325"/>
            <a:ext cx="651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Journalisation en PostgreSQL si la base est configuree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F7EBF1-1013-4343-9087-187B28F1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DC4DC6-5E70-430B-AA91-8AB20539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0">
            <a:solidFill>
              <a:srgbClr val="E4F3F1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B59A9-8D27-401F-AADC-C7357B79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14975"/>
            <a:ext cx="651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Retour JSON et supervision du 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328D12-9EBD-4149-B183-D330F3BD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7177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3E0"/>
          </a:solidFill>
          <a:ln xmlns:a="http://schemas.openxmlformats.org/drawingml/2006/main" w="0">
            <a:solidFill>
              <a:srgbClr val="CFE3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5E410E-075E-40D8-86B0-3F7D460B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35814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D29506-89D1-440B-83A4-E790E8AC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Endpoints livres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28A8E2-9F49-4507-B406-02BCEF8F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67000"/>
            <a:ext cx="3276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GET /health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POST /predict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GET /docs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D62CFA-1E64-413A-BB97-2EB59F9C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3581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C6B714-CE94-4F9F-855D-88A00E31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76750"/>
            <a:ext cx="327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Choix d'architecture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2F642C-CA06-4343-BA6D-68014FE2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276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API, modele et base separees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validation avant inference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persistance obligatoire si DB configuree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33015C-7497-40CE-A0EA-6F02B72A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Projet 5 OpenClassrooms - Attrition API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602503-379D-44EF-9ECE-4AD42349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513187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388C6D-5567-45DE-96E6-F5E91FBD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0">
            <a:solidFill>
              <a:srgbClr val="F5F0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22C30-429B-4EA7-9884-56C6C930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EFE8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CF437-4283-4A65-B982-B1F0AD15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C9DAB-DA68-4BD1-8983-4694E14F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0">
            <a:solidFill>
              <a:srgbClr val="E4F3F1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17AAC-7BC0-4872-A8AF-A69A3CBA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E2430"/>
                </a:solidFill>
                <a:latin typeface="Aptos Display"/>
                <a:ea typeface="Aptos Display"/>
                <a:cs typeface="Aptos Display"/>
              </a:rPr>
              <a:t>Swagger rend l'API lisible et l'authentification est explicite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BD3B8-F98D-4BA7-AA1D-0EAFC54A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Je montre le contrat d'API avant de lancer la demonstration.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90D59-AB7D-4102-BE76-973B33CD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32766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A"/>
          </a:solidFill>
          <a:ln xmlns:a="http://schemas.openxmlformats.org/drawingml/2006/main" w="0">
            <a:solidFill>
              <a:srgbClr val="1732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3FF5F-A0C3-40AF-A881-C304A747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2895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Point 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162C3-7EAB-459C-9F42-ECDEF055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28956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6E8"/>
                </a:solidFill>
                <a:latin typeface="Aptos"/>
                <a:ea typeface="Aptos"/>
                <a:cs typeface="Aptos"/>
              </a:rPr>
              <a:t>FastAPI m'apporte a la fois la validation Pydantic, la lisibilite OpenAPI et un support de demonstration immediat via Swagger.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66593-ECBF-4EAD-A2CA-8E8182C4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62200"/>
            <a:ext cx="35242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9525">
            <a:solidFill>
              <a:srgbClr val="E4F3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3AB00-1582-42E3-9E62-EDA15977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9555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Documentation integree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CFAC6-3527-41A9-9866-8DD6267F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95600"/>
            <a:ext cx="3067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schemas d'entree et de sortie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16373-B36E-47CD-9B97-53DADB66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19450"/>
            <a:ext cx="3067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exemples de payload et de reponse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CAAC0-AC0E-4F48-97D8-D8CA8FEE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67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erreurs 401, 422, 503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5D93F-48B5-4061-8916-F6422D82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67150"/>
            <a:ext cx="3067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route /docs exploitable en public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35E27-2916-4E82-9FFB-B17E8C03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62200"/>
            <a:ext cx="38100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FF1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77358-D4F2-4FB2-9728-B10A8DA8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95550"/>
            <a:ext cx="350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Securisation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D50FE6-8891-41F7-BABC-6B2FC3D4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352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header attendu : X-API-Key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E11A04-207B-412B-AB80-26969AAC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3352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route protegee : POST /predict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62051F-F321-42DB-A824-3AAF7C0D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3352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/health reste public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A9F7D4-77C6-43A0-8378-E0A7D26D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67150"/>
            <a:ext cx="3352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sans cle valide : retour 401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C37A1E-A1B7-4C90-B3E1-5BEDFA97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9595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1E2C02-214B-4BDA-9B2E-D6D876AA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Phrase a dire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4324F5-9DF3-48B0-B9F5-D00EDCDA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858500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Je m'appuie sur /docs pour montrer le contrat de l'API, puis je passe directement a la preuve publique.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42F35-AB00-4DB4-AB27-15F1BF16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Projet 5 OpenClassrooms - Attrition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B84E51-55E0-450C-BE81-CEFCF67A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224614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3D674B-4D2A-47AB-8629-54803304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0">
            <a:solidFill>
              <a:srgbClr val="F5F0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34712-6650-4ECA-B108-1CDC3DB8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EFE8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5B223-42AD-4AC9-BE24-3EC3561F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ABCD3-29FC-4EBE-8D7D-BA730105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0"/>
            <a:ext cx="386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A"/>
          </a:solidFill>
          <a:ln xmlns:a="http://schemas.openxmlformats.org/drawingml/2006/main" w="0">
            <a:solidFill>
              <a:srgbClr val="1732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E5F20-DF67-461F-955E-FFF8CA75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0">
            <a:solidFill>
              <a:srgbClr val="E4F3F1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D2221-C20E-4D46-BDCE-0F8D8D86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704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E2430"/>
                </a:solidFill>
                <a:latin typeface="Aptos Display"/>
                <a:ea typeface="Aptos Display"/>
                <a:cs typeface="Aptos Display"/>
              </a:rPr>
              <a:t>La demonstration publique prouve disponibilite, auth et prediction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86FDC-6482-403E-8481-F9DFAB60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Je m'appuie sur le tableau de bord local pour centraliser les preuves publiques et locales.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17216-045B-4D36-B979-AC96A864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2152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9525">
            <a:solidFill>
              <a:srgbClr val="E4F3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F42D9-A8E5-49F1-843A-058E8BA4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B1D1D-FD16-41F1-A595-E73C98F8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Swagger /docs public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14764-58FB-4AF9-AECF-A9E7F4A7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57450"/>
            <a:ext cx="2152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9525">
            <a:solidFill>
              <a:srgbClr val="E4F3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A3D9B-A0A5-445E-BDDB-2928D97B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2890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B7EC9-7D06-4C16-AC60-29DD459D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670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Etat /health public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213E5-7A3C-4010-A5C5-FA1AEEC0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2152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FF1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8FDD7-6502-48AD-9389-949852D1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2890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401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DCCC14-2FDE-46EB-921C-EF7FA86B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670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Predict sans 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DDD7F-AA67-4F18-BD49-8DC0104E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71900"/>
            <a:ext cx="2152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FF"/>
          </a:solidFill>
          <a:ln xmlns:a="http://schemas.openxmlformats.org/drawingml/2006/main" w="9525">
            <a:solidFill>
              <a:srgbClr val="F1EB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5FD94-1D22-47BC-9126-2C2F2DB6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43350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200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ED6E86-EAA2-4066-986F-4C0DC0CC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8150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Predict avec cle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A2CE8-157B-4CDB-8CAE-C17ABB32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71900"/>
            <a:ext cx="2190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2EA9A-DE5D-45CC-A884-15850F5C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4A837A-D0FD-4540-B881-7027528E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8859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1. /docs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2. 401 sans cle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3. 200 avec cle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4. trace PostgreSQL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5. carte qualite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35451-9C20-4075-BC58-937D3450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71900"/>
            <a:ext cx="21145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35BBA-65DB-42CC-AE31-4BFB3B51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05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Reponse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966798-00EE-4615-92C0-8D4D0F3A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91000"/>
            <a:ext cx="1809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{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  "probabilite_attrition": 0.6266,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  "prediction_attrition": 1,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  "threshold": 0.4781</a:t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DF33EC-9BA3-4269-AA20-CACC49F2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572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directe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BED214-8233-4ECF-A687-B801B83D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33500"/>
            <a:ext cx="27813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7E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8E7E9"/>
                </a:solidFill>
                <a:latin typeface="Aptos"/>
                <a:ea typeface="Aptos"/>
                <a:cs typeface="Aptos"/>
              </a:rPr>
              <a:t>Sans cle, l'API refuse l'appel. Avec la cle de demonstration, elle retourne une prediction complete. Cette sequence prouve a la fois la disponibilite du service et l'activation du controle d'acces.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883A80-75D8-4028-BCF0-CFAF4EB0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52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CC7B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CC7BE"/>
                </a:solidFill>
                <a:latin typeface="Aptos"/>
                <a:ea typeface="Aptos"/>
                <a:cs typeface="Aptos"/>
              </a:rPr>
              <a:t>Configuration retenue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F49149-81EF-4316-8146-D86EE492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006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Meme cle de demonstration en local et sur le Space :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change-me-for-local-dev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C9339F-4E7C-467D-9743-FDB8FA0D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Projet 5 OpenClassrooms - Attrition 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57E848-4CF8-44BE-8E8C-5C37C63B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418224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CEC53C-C8CB-40C4-A571-AB4B1604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0">
            <a:solidFill>
              <a:srgbClr val="F5F0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B6BE5-6DDB-454D-B94D-F2A92F97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EFE8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B4E60-146F-44D0-AEEC-6934B2AE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7A90B-FC98-4393-BE80-90815C30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A"/>
          </a:solidFill>
          <a:ln xmlns:a="http://schemas.openxmlformats.org/drawingml/2006/main" w="0">
            <a:solidFill>
              <a:srgbClr val="1732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0EE41-CC05-45B2-BDD0-B55323B3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0">
            <a:solidFill>
              <a:srgbClr val="E4F3F1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Qualite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D5C57-ADC7-47AE-BC04-4600FEC4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E2430"/>
                </a:solidFill>
                <a:latin typeface="Aptos Display"/>
                <a:ea typeface="Aptos Display"/>
                <a:cs typeface="Aptos Display"/>
              </a:rPr>
              <a:t>La qualite logicielle est objectivement mesuree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3BCB1-853E-45BA-99BE-0E3B9CE3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Les preuves sont visibles dans le tableau de bord et rejouables localement si necessaire.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F6069-510F-4659-9765-C40BE251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2247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9525">
            <a:solidFill>
              <a:srgbClr val="E4F3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84FD5-2A2F-408D-B5C8-A5EC9DA6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D74DD-1030-4363-95DE-36EC969D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tests verifies localement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BFDFC-0105-4FB9-909D-2C571DA0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76500"/>
            <a:ext cx="2247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FF"/>
          </a:solidFill>
          <a:ln xmlns:a="http://schemas.openxmlformats.org/drawingml/2006/main" w="9525">
            <a:solidFill>
              <a:srgbClr val="F1E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1C17F-E44F-406E-A030-5B5C2141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96%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1FC64-3322-41CE-8F3E-929247D2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8610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couverture actuelle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43384-1223-47F7-A269-E145762F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76500"/>
            <a:ext cx="2247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FF1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7B40E-1B29-401C-9A24-78F9A111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479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CB517-BABE-4F4F-89DC-DAAAE70E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86100"/>
            <a:ext cx="194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ruff 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75578-1F17-4338-8973-A3C07343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68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CC7B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CC7BE"/>
                </a:solidFill>
                <a:latin typeface="Aptos"/>
                <a:ea typeface="Aptos"/>
                <a:cs typeface="Aptos"/>
              </a:rPr>
              <a:t>Ce qui est teste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902FF1-68F2-4079-9F9B-B30F82BA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625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chargement du modele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/health normal et degrade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/predict succes, auth, validation et erreurs DB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configuration et preprocessing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integration PostgreSQL et seed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1AB7D-BBEE-48A9-905B-64282A60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76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CC7B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CC7BE"/>
                </a:solidFill>
                <a:latin typeface="Aptos"/>
                <a:ea typeface="Aptos"/>
                <a:cs typeface="Aptos"/>
              </a:rPr>
              <a:t>Lecture a porter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1D3247-53F7-41A7-97DE-8B47C290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625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Je ne me contente pas de dire que l'API fonctionne. Je montre qu'elle est verifiee automatiquement, sur ses chemins nominaux et sur ses cas d'erreur critiques.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33FF6F-F442-4AD7-8D4C-A90A39FA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530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que je veux prouver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67816-96D5-4B05-AF24-BF3DAC2D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91150"/>
            <a:ext cx="2647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7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7E9"/>
                </a:solidFill>
                <a:latin typeface="Aptos"/>
                <a:ea typeface="Aptos"/>
                <a:cs typeface="Aptos"/>
              </a:rPr>
              <a:t>Le projet n'est pas seulement fonctionnel. Il est verifie automatiquement sur ses scenarios metier et sur ses chemins d'erreur critiques.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4D6704-A6F8-48F9-875A-1359CA31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Projet 5 OpenClassrooms - Attrition 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B204EB-2CD4-479C-857C-7F5A2260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769359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8BEAFE-1AB0-45B8-BC4C-92339D44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0">
            <a:solidFill>
              <a:srgbClr val="F5F0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A74F6-08EA-4E7B-B5BA-E622E549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EFE8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8C82E-327D-40C9-9E34-F4FA107D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FA1AB-CF35-455C-BB5E-6A2CDA06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0">
            <a:solidFill>
              <a:srgbClr val="E4F3F1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2551E-1C16-4C44-82C1-1355640B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E2430"/>
                </a:solidFill>
                <a:latin typeface="Aptos Display"/>
                <a:ea typeface="Aptos Display"/>
                <a:cs typeface="Aptos Display"/>
              </a:rPr>
              <a:t>La prediction est tracee en base pour permettre l'audit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91F9D-83A1-4166-9E21-24E469E5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Je garde cette preuve en local car le Space public n'embarque pas PostgreSQL.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BA9BA-33A2-40DC-87D4-4B14FD87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3390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9525">
            <a:solidFill>
              <a:srgbClr val="E4F3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DF803-3808-4269-B5B1-329E7857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Table prediction_logs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5FD2A-7C63-44D6-AC68-E40B5D63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id et created_at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BD2DA-430E-4FCD-9217-1776B29F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request_payload en JSONB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1A776-301A-4285-8391-4A2E273B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probabilite, decision, seuil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301F4-7779-4DD1-94F0-7D94FD4B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model_identifier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81D53-126C-4A1A-9D30-3EC5222B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43150"/>
            <a:ext cx="30289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FF1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A35A6-44EC-48C2-BBBE-EEB612DA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Artefacts BDD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5BDFD-0632-41A1-8763-1707AD39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765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scripts/create_db.py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42282-0428-416E-8FE9-911BF585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194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scripts/seed_prediction_logs.py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99223-852F-4656-A8A2-AC9316C8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623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sql/create_prediction_logs.sql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AA9A4-DDF1-4E55-847A-0DF4EF1F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052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references/prediction_logs_examples.csv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4F1E67-75E8-43AD-A6A9-659F9704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43150"/>
            <a:ext cx="4286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A"/>
          </a:solidFill>
          <a:ln xmlns:a="http://schemas.openxmlformats.org/drawingml/2006/main" w="0">
            <a:solidFill>
              <a:srgbClr val="1732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C83B1-84DA-49DD-9CC6-0349B629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1460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Exemple de trace locale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859F0-EF75-418E-94DB-750584A3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71800"/>
            <a:ext cx="39052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6E8"/>
                </a:solidFill>
                <a:latin typeface="Aptos"/>
                <a:ea typeface="Aptos"/>
                <a:cs typeface="Aptos"/>
              </a:rPr>
              <a:t>prediction_attrition: 1</a:t>
            </a:r>
          </a:p>
          <a:p xmlns:a="http://schemas.openxmlformats.org/drawingml/2006/main">
            <a:pPr algn="l">
              <a:defRPr sz="1125" b="0">
                <a:solidFill>
                  <a:srgbClr val="D9E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6E8"/>
                </a:solidFill>
                <a:latin typeface="Aptos"/>
                <a:ea typeface="Aptos"/>
                <a:cs typeface="Aptos"/>
              </a:rPr>
              <a:t>model_identifier: attrition_xgboost_pipeline.joblib</a:t>
            </a:r>
          </a:p>
          <a:p xmlns:a="http://schemas.openxmlformats.org/drawingml/2006/main">
            <a:pPr algn="l">
              <a:defRPr sz="1125" b="0">
                <a:solidFill>
                  <a:srgbClr val="D9E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6E8"/>
                </a:solidFill>
                <a:latin typeface="Aptos"/>
                <a:ea typeface="Aptos"/>
                <a:cs typeface="Aptos"/>
              </a:rPr>
              <a:t>poste: Cadre Commercial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9E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6E8"/>
                </a:solidFill>
                <a:latin typeface="Aptos"/>
                <a:ea typeface="Aptos"/>
                <a:cs typeface="Aptos"/>
              </a:rPr>
              <a:t>JSONB me permet de conserver le payload complet sans rigidifier inutilement le schema.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58F661-0799-405C-8839-2AAFF4C5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1163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08B2D9-029B-4355-9383-85F789AB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Phrase a dire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6049E5-2F44-4EAB-BEDE-586A2BD1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PostgreSQL ne sert pas juste a stocker. Il sert a rendre la prediction explicable, tracable et potentiellement exploitable pour le reporting.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0FC130-1897-4E4F-9EF2-7FA30208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Projet 5 OpenClassrooms - Attrition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69CC5C-76BB-455F-8E42-E85F75E5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247206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FF61E9-BCDB-4AF5-844E-8B3AD28B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0">
            <a:solidFill>
              <a:srgbClr val="F5F0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6B7F3-267C-47FD-84CE-31B3B458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EFE8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66D25-7399-46C6-A5E8-4E013C0C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CD8EC-14EB-4FE6-AA4B-00DC1DA8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0">
            <a:solidFill>
              <a:srgbClr val="E4F3F1"/>
            </a:solidFill>
            <a:prstDash val="solid"/>
          </a:ln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Usages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DA2D2-9918-4634-9723-79AF039C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885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E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E2430"/>
                </a:solidFill>
                <a:latin typeface="Aptos Display"/>
                <a:ea typeface="Aptos Display"/>
                <a:cs typeface="Aptos Display"/>
              </a:rPr>
              <a:t>La solution ouvre des usages metier immediats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F1026-AF10-4B94-8A75-A44648FE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Le projet ne livre pas un dashboard final, mais il fournit deja les fondations techniques d'un usage reel.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3B9B4-C45A-4251-B762-39C7C757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35242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A"/>
          </a:solidFill>
          <a:ln xmlns:a="http://schemas.openxmlformats.org/drawingml/2006/main" w="0">
            <a:solidFill>
              <a:srgbClr val="1732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ED18C-4871-4F80-B257-C207E2A4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metier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1EFAC-46CB-4ADD-93DD-A36018C4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3143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6E8"/>
                </a:solidFill>
                <a:latin typeface="Aptos"/>
                <a:ea typeface="Aptos"/>
                <a:cs typeface="Aptos"/>
              </a:rPr>
              <a:t>Le service produit une decision interpretable, une reponse exploitable et une base de trace disponible pour l'audit.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9E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6E8"/>
                </a:solidFill>
                <a:latin typeface="Aptos"/>
                <a:ea typeface="Aptos"/>
                <a:cs typeface="Aptos"/>
              </a:rPr>
              <a:t>C'est ce qui permet ensuite d'aller vers le reporting ou la supervision metier.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A7A8A-FDBA-4609-8432-D2DC89EC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3429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CFF1A-F8EB-4DCC-8E03-558C548F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95550"/>
            <a:ext cx="312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Usages couverts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AE115-3855-4E63-BF4F-378E6EF9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1465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audit d'un appel API et de sa sortie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B10FB-307F-41EA-94F7-1F1C2F7E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7660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suivi du volume de predictions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3FF8B-0404-42B8-9B6F-746BDC24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3855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distribution des scores d'attrition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8C9F2-1FA4-4784-9424-9DA26BFA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0050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comparaison entre artefacts modele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20CDD-4323-4FE0-9802-249C3B0B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36766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A"/>
          </a:solidFill>
          <a:ln xmlns:a="http://schemas.openxmlformats.org/drawingml/2006/main" w="0">
            <a:solidFill>
              <a:srgbClr val="1732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35566-9D29-434A-8605-3FF12612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3295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Exemple de resultat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50CBED-214D-4553-B4DE-25DFACAB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90850"/>
            <a:ext cx="32956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6E8"/>
                </a:solidFill>
                <a:latin typeface="Aptos"/>
                <a:ea typeface="Aptos"/>
                <a:cs typeface="Aptos"/>
              </a:rPr>
              <a:t>{</a:t>
            </a:r>
          </a:p>
          <a:p xmlns:a="http://schemas.openxmlformats.org/drawingml/2006/main">
            <a:pPr algn="l">
              <a:defRPr sz="1125" b="0">
                <a:solidFill>
                  <a:srgbClr val="D9E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6E8"/>
                </a:solidFill>
                <a:latin typeface="Aptos"/>
                <a:ea typeface="Aptos"/>
                <a:cs typeface="Aptos"/>
              </a:rPr>
              <a:t>  "probabilite_attrition": 0.6265,</a:t>
            </a:r>
          </a:p>
          <a:p xmlns:a="http://schemas.openxmlformats.org/drawingml/2006/main">
            <a:pPr algn="l">
              <a:defRPr sz="1125" b="0">
                <a:solidFill>
                  <a:srgbClr val="D9E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6E8"/>
                </a:solidFill>
                <a:latin typeface="Aptos"/>
                <a:ea typeface="Aptos"/>
                <a:cs typeface="Aptos"/>
              </a:rPr>
              <a:t>  "prediction_attrition": 1,</a:t>
            </a:r>
          </a:p>
          <a:p xmlns:a="http://schemas.openxmlformats.org/drawingml/2006/main">
            <a:pPr algn="l">
              <a:defRPr sz="1125" b="0">
                <a:solidFill>
                  <a:srgbClr val="D9E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6E8"/>
                </a:solidFill>
                <a:latin typeface="Aptos"/>
                <a:ea typeface="Aptos"/>
                <a:cs typeface="Aptos"/>
              </a:rPr>
              <a:t>  "threshold": 0.4781</a:t>
            </a:r>
          </a:p>
          <a:p xmlns:a="http://schemas.openxmlformats.org/drawingml/2006/main">
            <a:pPr algn="l">
              <a:defRPr sz="1125" b="0">
                <a:solidFill>
                  <a:srgbClr val="D9E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6E8"/>
                </a:solidFill>
                <a:latin typeface="Aptos"/>
                <a:ea typeface="Aptos"/>
                <a:cs typeface="Apto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D9E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6E8"/>
                </a:solidFill>
                <a:latin typeface="Aptos"/>
                <a:ea typeface="Aptos"/>
                <a:cs typeface="Aptos"/>
              </a:rPr>
              <a:t>Je passe ici d'une logique de modele isole a une logique de service capable de produire une reponse, une trace et une preuve de qualite.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28599B-1DAD-4C75-9130-2C013961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1116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9B6E0-A03D-481A-B98C-0E156B2D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5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Message cle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29D800-C2A5-42E9-B81F-DA50C179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858500" cy="-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La valeur du projet n'est pas seulement predictive. Elle est aussi operationnelle, parce que le service devient controlable et auditable.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F170C2-F56A-48CB-AFE3-945F92FB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Projet 5 OpenClassrooms - Attrition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C66FBE-5ED4-44FE-849A-FC560402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358340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F4581D-3FC9-4384-A0AD-C6A96A19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0">
            <a:solidFill>
              <a:srgbClr val="F5F0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EA81F-0C4D-4CF7-83FC-F79F6233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EFE8D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47412-6798-4F7B-A3CB-9E9B802A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F5813-C554-4B82-BC5A-35EFA42B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A"/>
          </a:solidFill>
          <a:ln xmlns:a="http://schemas.openxmlformats.org/drawingml/2006/main" w="0">
            <a:solidFill>
              <a:srgbClr val="1732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61FED-10CA-4D44-9DF9-8D6CAC85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8E3"/>
          </a:solidFill>
          <a:ln xmlns:a="http://schemas.openxmlformats.org/drawingml/2006/main" w="0">
            <a:solidFill>
              <a:srgbClr val="CBE8E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32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323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E5DDC-CBDE-47ED-8CD9-A4D221DC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8153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projet repond au brief avec des limites claires et assumees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F74CB-CAB9-4F57-B9F9-CB77CFD4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666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7E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7E9"/>
                </a:solidFill>
                <a:latin typeface="Aptos"/>
                <a:ea typeface="Aptos"/>
                <a:cs typeface="Aptos"/>
              </a:rPr>
              <a:t>Je conclus sur ce qui est livre aujourd'hui et sur ce qui pourrait etre renforce ensuite.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DF0EF-7276-4824-9F12-0D83F777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37719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9525">
            <a:solidFill>
              <a:srgbClr val="E4F3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918F0-200C-4774-971F-5921315B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3467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Livrables confirms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A5EDA-F349-4CFB-BA7E-95B7FFCB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331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API documentee et securisee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168F4-551A-4B78-A6F0-378B067F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331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journalisation 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FDB13-240C-4704-B70C-C4C114E2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331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tests et lint automatises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10C09-D132-47AD-866A-DC070B5B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331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pipeline CI/CD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9AFF3-F59A-4FA9-9E91-F6D3AA04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31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deploiement public sur Hugging Face Spaces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0FE90-4918-430C-B91F-30420897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90800"/>
            <a:ext cx="30289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FF1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FB9C3-FADD-4829-AF0C-0A7ED463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Limites assumees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4D015-CA48-40F9-A14D-B908A676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authentification simple par cle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D979F-58D7-4523-8B39-0AF9199A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pas de dashboard BI dans le depot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54D58-E58D-45C4-B3CA-066CED34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• pas de gestion IAM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D5665-C5C9-4EC6-BBD6-350B1F20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90800"/>
            <a:ext cx="386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D3404-7D6D-4D9A-8EF6-DEE680A1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562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E2430"/>
                </a:solidFill>
                <a:latin typeface="Aptos"/>
                <a:ea typeface="Aptos"/>
                <a:cs typeface="Aptos"/>
              </a:rPr>
              <a:t>Conclusion orale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CC0A3D-A73B-4CD5-8687-AB2EF76F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35623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J'ai transforme un modele ML en service exploitable, avec une API documentee, une trace en base, une validation qualite et un deploiement public.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C'est ce passage du modele vers le service qui constitue la valeur du projet.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96B03C-06C5-4987-974E-D799751E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3A"/>
          </a:solidFill>
          <a:ln xmlns:a="http://schemas.openxmlformats.org/drawingml/2006/main" w="0">
            <a:solidFill>
              <a:srgbClr val="1732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6E336D-5B66-4390-8FF4-199A3A7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CC7B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CC7BE"/>
                </a:solidFill>
                <a:latin typeface="Aptos"/>
                <a:ea typeface="Aptos"/>
                <a:cs typeface="Aptos"/>
              </a:rPr>
              <a:t>Derniere phrase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E3F5C6-68E5-4E3B-AFCA-6F042CEE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971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 projet ne reste donc pas au stade de l'experimentation : il est expose, securise, teste, trace et deploye.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0F827E-4D49-45FA-B78A-D8062E2D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Projet 5 OpenClassrooms - Attrition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BE9F5E-7A54-452A-97A0-104EA202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68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87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08251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2026-05-29T12:13:49.0170000Z</dcterms:created>
  <dcterms:modified xsi:type="dcterms:W3CDTF">2026-05-29T12:13:49.0170000Z</dcterms:modified>
</coreProperties>
</file>